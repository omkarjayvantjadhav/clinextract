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ClinExtract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AI-Assisted Clinical Document Extraction and Human-in-the-Loop Validation Platform</a:t>
            </a:r>
          </a:p>
          <a:p/>
          <a:p>
            <a:r>
              <a:t>Technologies: FastAPI, React, PostgreSQL, Celery, Tesseract, Gemini</a:t>
            </a:r>
          </a:p>
          <a:p>
            <a:r>
              <a:t>Version: v1.0.0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Clinical documents are messy: Native PDFs, scanned images, mixed documents, and noisy OCR.</a:t>
            </a:r>
          </a:p>
          <a:p>
            <a:pPr>
              <a:spcAft>
                <a:spcPts val="1400"/>
              </a:spcAft>
              <a:defRPr sz="2400"/>
            </a:pPr>
            <a:r>
              <a:t>Inconsistent layouts make regex or template-based extraction brittle.</a:t>
            </a:r>
          </a:p>
          <a:p>
            <a:pPr>
              <a:spcAft>
                <a:spcPts val="1400"/>
              </a:spcAft>
              <a:defRPr sz="2400"/>
            </a:pPr>
            <a:r>
              <a:t>Simply extracting text is insufficient; we need structured data with high confidence.</a:t>
            </a:r>
          </a:p>
          <a:p>
            <a:pPr>
              <a:spcAft>
                <a:spcPts val="1400"/>
              </a:spcAft>
              <a:defRPr sz="2400"/>
            </a:pPr>
            <a:r>
              <a:t>Requirements: Ingestion, OCR, extraction, validation, human correction, and auditability.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Secure document ingestion (path traversal protection, magic bytes)</a:t>
            </a:r>
          </a:p>
          <a:p>
            <a:pPr>
              <a:spcAft>
                <a:spcPts val="1400"/>
              </a:spcAft>
              <a:defRPr sz="2400"/>
            </a:pPr>
            <a:r>
              <a:t>Reliable OCR/preprocessing (deskew, thresholding)</a:t>
            </a:r>
          </a:p>
          <a:p>
            <a:pPr>
              <a:spcAft>
                <a:spcPts val="1400"/>
              </a:spcAft>
              <a:defRPr sz="2400"/>
            </a:pPr>
            <a:r>
              <a:t>Structured clinical extraction (LLM/VLM + Rules)</a:t>
            </a:r>
          </a:p>
          <a:p>
            <a:pPr>
              <a:spcAft>
                <a:spcPts val="1400"/>
              </a:spcAft>
              <a:defRPr sz="2400"/>
            </a:pPr>
            <a:r>
              <a:t>AI-assisted extraction with deterministic fallback</a:t>
            </a:r>
          </a:p>
          <a:p>
            <a:pPr>
              <a:spcAft>
                <a:spcPts val="1400"/>
              </a:spcAft>
              <a:defRPr sz="2400"/>
            </a:pPr>
            <a:r>
              <a:t>Confidence calculation and validation rules</a:t>
            </a:r>
          </a:p>
          <a:p>
            <a:pPr>
              <a:spcAft>
                <a:spcPts val="1400"/>
              </a:spcAft>
              <a:defRPr sz="2400"/>
            </a:pPr>
            <a:r>
              <a:t>Human-in-the-loop review for flagged documents</a:t>
            </a:r>
          </a:p>
          <a:p>
            <a:pPr>
              <a:spcAft>
                <a:spcPts val="1400"/>
              </a:spcAft>
              <a:defRPr sz="2400"/>
            </a:pPr>
            <a:r>
              <a:t>Immutable AI provenance &amp; auditability</a:t>
            </a:r>
          </a:p>
          <a:p>
            <a:pPr>
              <a:spcAft>
                <a:spcPts val="1400"/>
              </a:spcAft>
              <a:defRPr sz="2400"/>
            </a:pPr>
            <a:r>
              <a:t>Asynchronous processing (Celery + RabbitMQ)</a:t>
            </a:r>
          </a:p>
          <a:p>
            <a:pPr>
              <a:spcAft>
                <a:spcPts val="1400"/>
              </a:spcAft>
              <a:defRPr sz="2400"/>
            </a:pPr>
            <a:r>
              <a:t>Operational observability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Frontend: React + Vite + TanStack Query</a:t>
            </a:r>
          </a:p>
          <a:p>
            <a:pPr>
              <a:spcAft>
                <a:spcPts val="1400"/>
              </a:spcAft>
              <a:defRPr sz="2400"/>
            </a:pPr>
            <a:r>
              <a:t>Gateway: FastAPI handles Auth, RBAC, CSRF</a:t>
            </a:r>
          </a:p>
          <a:p>
            <a:pPr>
              <a:spcAft>
                <a:spcPts val="1400"/>
              </a:spcAft>
              <a:defRPr sz="2400"/>
            </a:pPr>
            <a:r>
              <a:t>Database: PostgreSQL via SQLAlchemy</a:t>
            </a:r>
          </a:p>
          <a:p>
            <a:pPr>
              <a:spcAft>
                <a:spcPts val="1400"/>
              </a:spcAft>
              <a:defRPr sz="2400"/>
            </a:pPr>
            <a:r>
              <a:t>Broker: RabbitMQ queues tasks</a:t>
            </a:r>
          </a:p>
          <a:p>
            <a:pPr>
              <a:spcAft>
                <a:spcPts val="1400"/>
              </a:spcAft>
              <a:defRPr sz="2400"/>
            </a:pPr>
            <a:r>
              <a:t>Worker: Celery executes async extraction</a:t>
            </a:r>
          </a:p>
          <a:p>
            <a:pPr>
              <a:spcAft>
                <a:spcPts val="1400"/>
              </a:spcAft>
              <a:defRPr sz="2400"/>
            </a:pPr>
            <a:r>
              <a:t>Processing: PyMuPDF + OpenCV + Tesseract</a:t>
            </a:r>
          </a:p>
          <a:p>
            <a:pPr>
              <a:spcAft>
                <a:spcPts val="1400"/>
              </a:spcAft>
              <a:defRPr sz="2400"/>
            </a:pPr>
            <a:r>
              <a:t>AI: Google Gemini LLM/VLM</a:t>
            </a:r>
          </a:p>
          <a:p>
            <a:pPr>
              <a:spcAft>
                <a:spcPts val="1400"/>
              </a:spcAft>
              <a:defRPr sz="2400"/>
            </a:pPr>
            <a:r>
              <a:t>Storage: Local Volume for PDFs and OCR artifacts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Frontend: React, Vite, Tailwind CSS, TanStack Query</a:t>
            </a:r>
          </a:p>
          <a:p>
            <a:pPr>
              <a:spcAft>
                <a:spcPts val="1400"/>
              </a:spcAft>
              <a:defRPr sz="2400"/>
            </a:pPr>
            <a:r>
              <a:t>Backend: FastAPI, Pydantic, SQLAlchemy, Alembic</a:t>
            </a:r>
          </a:p>
          <a:p>
            <a:pPr>
              <a:spcAft>
                <a:spcPts val="1400"/>
              </a:spcAft>
              <a:defRPr sz="2400"/>
            </a:pPr>
            <a:r>
              <a:t>Async: Celery, RabbitMQ</a:t>
            </a:r>
          </a:p>
          <a:p>
            <a:pPr>
              <a:spcAft>
                <a:spcPts val="1400"/>
              </a:spcAft>
              <a:defRPr sz="2400"/>
            </a:pPr>
            <a:r>
              <a:t>Database: PostgreSQL 15</a:t>
            </a:r>
          </a:p>
          <a:p>
            <a:pPr>
              <a:spcAft>
                <a:spcPts val="1400"/>
              </a:spcAft>
              <a:defRPr sz="2400"/>
            </a:pPr>
            <a:r>
              <a:t>Document Processing: PyMuPDF, Tesseract, OpenCV, Pillow</a:t>
            </a:r>
          </a:p>
          <a:p>
            <a:pPr>
              <a:spcAft>
                <a:spcPts val="1400"/>
              </a:spcAft>
              <a:defRPr sz="2400"/>
            </a:pPr>
            <a:r>
              <a:t>AI: Google Gemini API (google-genai)</a:t>
            </a:r>
          </a:p>
          <a:p>
            <a:pPr>
              <a:spcAft>
                <a:spcPts val="1400"/>
              </a:spcAft>
              <a:defRPr sz="2400"/>
            </a:pPr>
            <a:r>
              <a:t>Security: Argon2, JWT, HttpOnly Cookies, CSRF tokens</a:t>
            </a:r>
          </a:p>
          <a:p>
            <a:pPr>
              <a:spcAft>
                <a:spcPts val="1400"/>
              </a:spcAft>
              <a:defRPr sz="2400"/>
            </a:pPr>
            <a:r>
              <a:t>Infrastructure: Docker, Docker Compose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UPLOADED: File secured and stored</a:t>
            </a:r>
          </a:p>
          <a:p>
            <a:pPr>
              <a:spcAft>
                <a:spcPts val="1400"/>
              </a:spcAft>
              <a:defRPr sz="2400"/>
            </a:pPr>
            <a:r>
              <a:t>PROCESSING: Celery worker takes ownership (Job=RUNNING)</a:t>
            </a:r>
          </a:p>
          <a:p>
            <a:pPr>
              <a:spcAft>
                <a:spcPts val="1400"/>
              </a:spcAft>
              <a:defRPr sz="2400"/>
            </a:pPr>
            <a:r>
              <a:t>VALIDATION: Rules applied to extraction output</a:t>
            </a:r>
          </a:p>
          <a:p>
            <a:pPr>
              <a:spcAft>
                <a:spcPts val="1400"/>
              </a:spcAft>
              <a:defRPr sz="2400"/>
            </a:pPr>
            <a:r>
              <a:t>REVIEW_REQUIRED: If validation fails or confidence is low</a:t>
            </a:r>
          </a:p>
          <a:p>
            <a:pPr>
              <a:spcAft>
                <a:spcPts val="1400"/>
              </a:spcAft>
              <a:defRPr sz="2400"/>
            </a:pPr>
            <a:r>
              <a:t>AUTO_ACCEPTED: If all fields are valid and high confidence</a:t>
            </a:r>
          </a:p>
          <a:p>
            <a:pPr>
              <a:spcAft>
                <a:spcPts val="1400"/>
              </a:spcAft>
              <a:defRPr sz="2400"/>
            </a:pPr>
            <a:r>
              <a:t>REVIEW_IN_PROGRESS: Claimed by a human reviewer</a:t>
            </a:r>
          </a:p>
          <a:p>
            <a:pPr>
              <a:spcAft>
                <a:spcPts val="1400"/>
              </a:spcAft>
              <a:defRPr sz="2400"/>
            </a:pPr>
            <a:r>
              <a:t>HUMAN_APPROVED / REJECTED: Final manual decision</a:t>
            </a:r>
          </a:p>
          <a:p>
            <a:pPr>
              <a:spcAft>
                <a:spcPts val="1400"/>
              </a:spcAft>
              <a:defRPr sz="2400"/>
            </a:pPr>
            <a:r>
              <a:t>Note: Document.status is distinct from ProcessingJob.status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Secure Document Intake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Multipart upload with strict size limits</a:t>
            </a:r>
          </a:p>
          <a:p>
            <a:pPr>
              <a:spcAft>
                <a:spcPts val="1400"/>
              </a:spcAft>
              <a:defRPr sz="2400"/>
            </a:pPr>
            <a:r>
              <a:t>MIME and magic-byte validation (prevents disguised executables)</a:t>
            </a:r>
          </a:p>
          <a:p>
            <a:pPr>
              <a:spcAft>
                <a:spcPts val="1400"/>
              </a:spcAft>
              <a:defRPr sz="2400"/>
            </a:pPr>
            <a:r>
              <a:t>Path traversal protection via UUID-based storage keys</a:t>
            </a:r>
          </a:p>
          <a:p>
            <a:pPr>
              <a:spcAft>
                <a:spcPts val="1400"/>
              </a:spcAft>
              <a:defRPr sz="2400"/>
            </a:pPr>
            <a:r>
              <a:t>Storage abstraction pattern (currently Local Storage)</a:t>
            </a:r>
          </a:p>
          <a:p>
            <a:pPr>
              <a:spcAft>
                <a:spcPts val="1400"/>
              </a:spcAft>
              <a:defRPr sz="2400"/>
            </a:pPr>
            <a:r>
              <a:t>Persistent Docker volume isolates files from application code</a:t>
            </a:r>
          </a:p>
          <a:p>
            <a:pPr>
              <a:spcAft>
                <a:spcPts val="1400"/>
              </a:spcAft>
              <a:defRPr sz="2400"/>
            </a:pPr>
            <a:r>
              <a:t>Why magic bytes? File extensions can be trivially spoofed.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OCR &amp; Document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Phase 7 Pipeline separates text vs image logic.</a:t>
            </a:r>
          </a:p>
          <a:p>
            <a:pPr>
              <a:spcAft>
                <a:spcPts val="1400"/>
              </a:spcAft>
              <a:defRPr sz="2400"/>
            </a:pPr>
            <a:r>
              <a:t>Native PDF: PyMuPDF extracts text, words, and bounding boxes directly.</a:t>
            </a:r>
          </a:p>
          <a:p>
            <a:pPr>
              <a:spcAft>
                <a:spcPts val="1400"/>
              </a:spcAft>
              <a:defRPr sz="2400"/>
            </a:pPr>
            <a:r>
              <a:t>Scanned PDF/Image: OpenCV converts, deskews, and applies thresholding.</a:t>
            </a:r>
          </a:p>
          <a:p>
            <a:pPr>
              <a:spcAft>
                <a:spcPts val="1400"/>
              </a:spcAft>
              <a:defRPr sz="2400"/>
            </a:pPr>
            <a:r>
              <a:t>Tesseract OCR: Extracts text, bounding boxes, and confidence scores.</a:t>
            </a:r>
          </a:p>
          <a:p>
            <a:pPr>
              <a:spcAft>
                <a:spcPts val="1400"/>
              </a:spcAft>
              <a:defRPr sz="2400"/>
            </a:pPr>
            <a:r>
              <a:t>Coordinates are normalized to [x_min, y_min, width, height] relative to page dimensions.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Structured OCR Artifact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Generated JSON artifact stores the entire visual layout.</a:t>
            </a:r>
          </a:p>
          <a:p>
            <a:pPr>
              <a:spcAft>
                <a:spcPts val="1400"/>
              </a:spcAft>
              <a:defRPr sz="2400"/>
            </a:pPr>
            <a:r>
              <a:t>Fields: schema_version, document_id, job_id, pages, words, coordinates, confidence.</a:t>
            </a:r>
          </a:p>
          <a:p>
            <a:pPr>
              <a:spcAft>
                <a:spcPts val="1400"/>
              </a:spcAft>
              <a:defRPr sz="2400"/>
            </a:pPr>
            <a:r>
              <a:t>Why JSON instead of PostgreSQL?</a:t>
            </a:r>
          </a:p>
          <a:p>
            <a:pPr>
              <a:spcAft>
                <a:spcPts val="1400"/>
              </a:spcAft>
              <a:defRPr sz="2400"/>
            </a:pPr>
            <a:r>
              <a:t>- OCR yields thousands of words per document.</a:t>
            </a:r>
          </a:p>
          <a:p>
            <a:pPr>
              <a:spcAft>
                <a:spcPts val="1400"/>
              </a:spcAft>
              <a:defRPr sz="2400"/>
            </a:pPr>
            <a:r>
              <a:t>- Relational DBs are inefficient for massive unstructured coordinate arrays.</a:t>
            </a:r>
          </a:p>
          <a:p>
            <a:pPr>
              <a:spcAft>
                <a:spcPts val="1400"/>
              </a:spcAft>
              <a:defRPr sz="2400"/>
            </a:pPr>
            <a:r>
              <a:t>- JSON artifact acts as an immutable point-in-time source of truth.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Extraction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BaseExtractor: Abstract interface.</a:t>
            </a:r>
          </a:p>
          <a:p>
            <a:pPr>
              <a:spcAft>
                <a:spcPts val="1400"/>
              </a:spcAft>
              <a:defRPr sz="2400"/>
            </a:pPr>
            <a:r>
              <a:t>Implementations: RuleBasedExtractor, LLMExtractor, VLMExtractor, MockProvider.</a:t>
            </a:r>
          </a:p>
          <a:p>
            <a:pPr>
              <a:spcAft>
                <a:spcPts val="1400"/>
              </a:spcAft>
              <a:defRPr sz="2400"/>
            </a:pPr>
            <a:r>
              <a:t>ExtractionFactory: Instantiates provider based on config.</a:t>
            </a:r>
          </a:p>
          <a:p>
            <a:pPr>
              <a:spcAft>
                <a:spcPts val="1400"/>
              </a:spcAft>
              <a:defRPr sz="2400"/>
            </a:pPr>
            <a:r>
              <a:t>Why abstraction? Allows seamless swapping of AI models without changing business logic.</a:t>
            </a:r>
          </a:p>
          <a:p>
            <a:pPr>
              <a:spcAft>
                <a:spcPts val="1400"/>
              </a:spcAft>
              <a:defRPr sz="2400"/>
            </a:pPr>
            <a:r>
              <a:t>Makes system completely provider-agnostic and highly testable.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Rule-Based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Deterministic fallback extraction using RegEx.</a:t>
            </a:r>
          </a:p>
          <a:p>
            <a:pPr>
              <a:spcAft>
                <a:spcPts val="1400"/>
              </a:spcAft>
              <a:defRPr sz="2400"/>
            </a:pPr>
            <a:r>
              <a:t>Extracts standard fields (e.g., Patient Name, DOB, Hemoglobin).</a:t>
            </a:r>
          </a:p>
          <a:p>
            <a:pPr>
              <a:spcAft>
                <a:spcPts val="1400"/>
              </a:spcAft>
              <a:defRPr sz="2400"/>
            </a:pPr>
            <a:r>
              <a:t>Maps regex text spans back to OCR words to calculate precise bounding boxes.</a:t>
            </a:r>
          </a:p>
          <a:p>
            <a:pPr>
              <a:spcAft>
                <a:spcPts val="1400"/>
              </a:spcAft>
              <a:defRPr sz="2400"/>
            </a:pPr>
            <a:r>
              <a:t>Averages confidence of the matched words.</a:t>
            </a:r>
          </a:p>
          <a:p>
            <a:pPr>
              <a:spcAft>
                <a:spcPts val="1400"/>
              </a:spcAft>
              <a:defRPr sz="2400"/>
            </a:pPr>
            <a:r>
              <a:t>Preserves provenance (Provider=rule_based).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Gemini LLM/VLM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Uses official `google-genai` SDK with Structured Output (Pydantic schema).</a:t>
            </a:r>
          </a:p>
          <a:p>
            <a:pPr>
              <a:spcAft>
                <a:spcPts val="1400"/>
              </a:spcAft>
              <a:defRPr sz="2400"/>
            </a:pPr>
            <a:r>
              <a:t>LLM Mode: Feeds raw OCR text into Gemini for nuanced extraction.</a:t>
            </a:r>
          </a:p>
          <a:p>
            <a:pPr>
              <a:spcAft>
                <a:spcPts val="1400"/>
              </a:spcAft>
              <a:defRPr sz="2400"/>
            </a:pPr>
            <a:r>
              <a:t>VLM Mode: Feeds actual page images into Gemini for layout-aware extraction.</a:t>
            </a:r>
          </a:p>
          <a:p>
            <a:pPr>
              <a:spcAft>
                <a:spcPts val="1400"/>
              </a:spcAft>
              <a:defRPr sz="2400"/>
            </a:pPr>
            <a:r>
              <a:t>Error Handling: Retries on 429/503; fails fast on 400 (Bad Request).</a:t>
            </a:r>
          </a:p>
          <a:p>
            <a:pPr>
              <a:spcAft>
                <a:spcPts val="1400"/>
              </a:spcAft>
              <a:defRPr sz="2400"/>
            </a:pPr>
            <a:r>
              <a:t>Note: Gemini quota applies. Mock providers used for CI/CD.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Deterministic Fallback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AI is inherently unpredictable (hallucinations, API outages).</a:t>
            </a:r>
          </a:p>
          <a:p>
            <a:pPr>
              <a:spcAft>
                <a:spcPts val="1400"/>
              </a:spcAft>
              <a:defRPr sz="2400"/>
            </a:pPr>
            <a:r>
              <a:t>If Gemini extraction fails (Exception, Invalid Schema, Rate Limit):</a:t>
            </a:r>
          </a:p>
          <a:p>
            <a:pPr>
              <a:spcAft>
                <a:spcPts val="1400"/>
              </a:spcAft>
              <a:defRPr sz="2400"/>
            </a:pPr>
            <a:r>
              <a:t>  -&gt; Checks EXTRACTION_FALLBACK_ENABLED</a:t>
            </a:r>
          </a:p>
          <a:p>
            <a:pPr>
              <a:spcAft>
                <a:spcPts val="1400"/>
              </a:spcAft>
              <a:defRPr sz="2400"/>
            </a:pPr>
            <a:r>
              <a:t>  -&gt; If true, gracefully degrades to RuleBasedExtractor</a:t>
            </a:r>
          </a:p>
          <a:p>
            <a:pPr>
              <a:spcAft>
                <a:spcPts val="1400"/>
              </a:spcAft>
              <a:defRPr sz="2400"/>
            </a:pPr>
            <a:r>
              <a:t>Logs original failure reason and fallback metadata for auditability.</a:t>
            </a:r>
          </a:p>
          <a:p>
            <a:pPr>
              <a:spcAft>
                <a:spcPts val="1400"/>
              </a:spcAft>
              <a:defRPr sz="2400"/>
            </a:pPr>
            <a:r>
              <a:t>Ensures the system never stalls purely due to external API failures.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&amp; Confidence (Phase 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Data Normalization: Casts text to YYYY-MM-DD or Float.</a:t>
            </a:r>
          </a:p>
          <a:p>
            <a:pPr>
              <a:spcAft>
                <a:spcPts val="1400"/>
              </a:spcAft>
              <a:defRPr sz="2400"/>
            </a:pPr>
            <a:r>
              <a:t>Validation Rules: Checks required fields and reference ranges.</a:t>
            </a:r>
          </a:p>
          <a:p>
            <a:pPr>
              <a:spcAft>
                <a:spcPts val="1400"/>
              </a:spcAft>
              <a:defRPr sz="2400"/>
            </a:pPr>
            <a:r>
              <a:t>Confidence Calculation: Aggregates OCR confidence + AI confidence.</a:t>
            </a:r>
          </a:p>
          <a:p>
            <a:pPr>
              <a:spcAft>
                <a:spcPts val="1400"/>
              </a:spcAft>
              <a:defRPr sz="2400"/>
            </a:pPr>
            <a:r>
              <a:t>Source Mismatch: Flags discrepancies between text and expected format.</a:t>
            </a:r>
          </a:p>
          <a:p>
            <a:pPr>
              <a:spcAft>
                <a:spcPts val="1400"/>
              </a:spcAft>
              <a:defRPr sz="2400"/>
            </a:pPr>
            <a:r>
              <a:t>If ANY field fails validation -&gt; Document becomes REVIEW_REQUIRED.</a:t>
            </a:r>
          </a:p>
          <a:p>
            <a:pPr>
              <a:spcAft>
                <a:spcPts val="1400"/>
              </a:spcAft>
              <a:defRPr sz="2400"/>
            </a:pPr>
            <a:r>
              <a:t>If ALL fields valid -&gt; Document becomes AUTO_ACCEPTED.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Human-In-The-Loop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Review Queue: Lists documents needing attention.</a:t>
            </a:r>
          </a:p>
          <a:p>
            <a:pPr>
              <a:spcAft>
                <a:spcPts val="1400"/>
              </a:spcAft>
              <a:defRPr sz="2400"/>
            </a:pPr>
            <a:r>
              <a:t>Claim: Exclusive row-lock prevents concurrent editing.</a:t>
            </a:r>
          </a:p>
          <a:p>
            <a:pPr>
              <a:spcAft>
                <a:spcPts val="1400"/>
              </a:spcAft>
              <a:defRPr sz="2400"/>
            </a:pPr>
            <a:r>
              <a:t>Correction: Reviewer fixes flagged fields via interactive UI.</a:t>
            </a:r>
          </a:p>
          <a:p>
            <a:pPr>
              <a:spcAft>
                <a:spcPts val="1400"/>
              </a:spcAft>
              <a:defRPr sz="2400"/>
            </a:pPr>
            <a:r>
              <a:t>Re-validation: System strictly re-runs validation on corrected values.</a:t>
            </a:r>
          </a:p>
          <a:p>
            <a:pPr>
              <a:spcAft>
                <a:spcPts val="1400"/>
              </a:spcAft>
              <a:defRPr sz="2400"/>
            </a:pPr>
            <a:r>
              <a:t>Approve/Reject: Finalizes the document lifecycle.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Immutable AI Provenance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Original AI extraction is strictly IMMUTABLE.</a:t>
            </a:r>
          </a:p>
          <a:p>
            <a:pPr>
              <a:spcAft>
                <a:spcPts val="1400"/>
              </a:spcAft>
              <a:defRPr sz="2400"/>
            </a:pPr>
            <a:r>
              <a:t>Human corrections do NOT overwrite the `extracted_fields` table.</a:t>
            </a:r>
          </a:p>
          <a:p>
            <a:pPr>
              <a:spcAft>
                <a:spcPts val="1400"/>
              </a:spcAft>
              <a:defRPr sz="2400"/>
            </a:pPr>
            <a:r>
              <a:t>Instead, a new row is inserted into `field_corrections`.</a:t>
            </a:r>
          </a:p>
          <a:p>
            <a:pPr>
              <a:spcAft>
                <a:spcPts val="1400"/>
              </a:spcAft>
              <a:defRPr sz="2400"/>
            </a:pPr>
            <a:r>
              <a:t>Why? Auditability, debugging AI drift, and regulatory compliance.</a:t>
            </a:r>
          </a:p>
          <a:p>
            <a:pPr>
              <a:spcAft>
                <a:spcPts val="1400"/>
              </a:spcAft>
              <a:defRPr sz="2400"/>
            </a:pPr>
            <a:r>
              <a:t>We must always know exactly what the AI predicted vs what the human entered.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Argon2 password hashing</a:t>
            </a:r>
          </a:p>
          <a:p>
            <a:pPr>
              <a:spcAft>
                <a:spcPts val="1400"/>
              </a:spcAft>
              <a:defRPr sz="2400"/>
            </a:pPr>
            <a:r>
              <a:t>HttpOnly, SameSite Cookies for JWT (prevents XSS theft)</a:t>
            </a:r>
          </a:p>
          <a:p>
            <a:pPr>
              <a:spcAft>
                <a:spcPts val="1400"/>
              </a:spcAft>
              <a:defRPr sz="2400"/>
            </a:pPr>
            <a:r>
              <a:t>Double-Submit Cookie CSRF protection (prevents cross-site forgery)</a:t>
            </a:r>
          </a:p>
          <a:p>
            <a:pPr>
              <a:spcAft>
                <a:spcPts val="1400"/>
              </a:spcAft>
              <a:defRPr sz="2400"/>
            </a:pPr>
            <a:r>
              <a:t>Strict RBAC (Admin, Reviewer, Operator)</a:t>
            </a:r>
          </a:p>
          <a:p>
            <a:pPr>
              <a:spcAft>
                <a:spcPts val="1400"/>
              </a:spcAft>
              <a:defRPr sz="2400"/>
            </a:pPr>
            <a:r>
              <a:t>Path traversal protection for file uploads</a:t>
            </a:r>
          </a:p>
          <a:p>
            <a:pPr>
              <a:spcAft>
                <a:spcPts val="1400"/>
              </a:spcAft>
              <a:defRPr sz="2400"/>
            </a:pPr>
            <a:r>
              <a:t>No sensitive PHI logging in stdout</a:t>
            </a:r>
          </a:p>
          <a:p>
            <a:pPr>
              <a:spcAft>
                <a:spcPts val="1400"/>
              </a:spcAft>
              <a:defRPr sz="2400"/>
            </a:pPr>
            <a:r>
              <a:t>Immutable audit trails for every state change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Asynchronous Processing (Celery)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Why Celery? OCR and LLM calls can take 10-60 seconds.</a:t>
            </a:r>
          </a:p>
          <a:p>
            <a:pPr>
              <a:spcAft>
                <a:spcPts val="1400"/>
              </a:spcAft>
              <a:defRPr sz="2400"/>
            </a:pPr>
            <a:r>
              <a:t>FastAPI delegates work via RabbitMQ, responding with 201 Created immediately.</a:t>
            </a:r>
          </a:p>
          <a:p>
            <a:pPr>
              <a:spcAft>
                <a:spcPts val="1400"/>
              </a:spcAft>
              <a:defRPr sz="2400"/>
            </a:pPr>
            <a:r>
              <a:t>Celery Workers consume tasks with `acks_late=True` (idempotency).</a:t>
            </a:r>
          </a:p>
          <a:p>
            <a:pPr>
              <a:spcAft>
                <a:spcPts val="1400"/>
              </a:spcAft>
              <a:defRPr sz="2400"/>
            </a:pPr>
            <a:r>
              <a:t>Row-level locking (SELECT FOR UPDATE) prevents race conditions.</a:t>
            </a:r>
          </a:p>
          <a:p>
            <a:pPr>
              <a:spcAft>
                <a:spcPts val="1400"/>
              </a:spcAft>
              <a:defRPr sz="2400"/>
            </a:pPr>
            <a:r>
              <a:t>Correlation IDs trace jobs across API -&gt; RabbitMQ -&gt; Celery.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Structured JSON-compatible logging.</a:t>
            </a:r>
          </a:p>
          <a:p>
            <a:pPr>
              <a:spcAft>
                <a:spcPts val="1400"/>
              </a:spcAft>
              <a:defRPr sz="2400"/>
            </a:pPr>
            <a:r>
              <a:t>Correlation IDs link requests to async tasks.</a:t>
            </a:r>
          </a:p>
          <a:p>
            <a:pPr>
              <a:spcAft>
                <a:spcPts val="1400"/>
              </a:spcAft>
              <a:defRPr sz="2400"/>
            </a:pPr>
            <a:r>
              <a:t>Comprehensive Audit Logs track 'Who did What and When'.</a:t>
            </a:r>
          </a:p>
          <a:p>
            <a:pPr>
              <a:spcAft>
                <a:spcPts val="1400"/>
              </a:spcAft>
              <a:defRPr sz="2400"/>
            </a:pPr>
            <a:r>
              <a:t>Analytics API provides processing throughput and validation rates.</a:t>
            </a:r>
          </a:p>
          <a:p>
            <a:pPr>
              <a:spcAft>
                <a:spcPts val="1400"/>
              </a:spcAft>
              <a:defRPr sz="2400"/>
            </a:pPr>
            <a:r>
              <a:t>Deep Health Endpoint: Checks DB, RabbitMQ, and Celery Worker pulse.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Backend: 43 passing Pytest test cases.</a:t>
            </a:r>
          </a:p>
          <a:p>
            <a:pPr>
              <a:spcAft>
                <a:spcPts val="1400"/>
              </a:spcAft>
              <a:defRPr sz="2400"/>
            </a:pPr>
            <a:r>
              <a:t>Covers Auth, RBAC, CSRF, Uploads, Extraction, Validation.</a:t>
            </a:r>
          </a:p>
          <a:p>
            <a:pPr>
              <a:spcAft>
                <a:spcPts val="1400"/>
              </a:spcAft>
              <a:defRPr sz="2400"/>
            </a:pPr>
            <a:r>
              <a:t>Includes manual regression fixtures (corrupt PDFs, varied OCR).</a:t>
            </a:r>
          </a:p>
          <a:p>
            <a:pPr>
              <a:spcAft>
                <a:spcPts val="1400"/>
              </a:spcAft>
              <a:defRPr sz="2400"/>
            </a:pPr>
            <a:r>
              <a:t>Mock Provider used in tests to ensure determinism and avoid API costs.</a:t>
            </a:r>
          </a:p>
          <a:p>
            <a:pPr>
              <a:spcAft>
                <a:spcPts val="1400"/>
              </a:spcAft>
              <a:defRPr sz="2400"/>
            </a:pPr>
            <a:r>
              <a:t>Frontend: Linter and Build checks verified.</a:t>
            </a:r>
          </a:p>
          <a:p>
            <a:pPr>
              <a:spcAft>
                <a:spcPts val="1400"/>
              </a:spcAft>
              <a:defRPr sz="2400"/>
            </a:pPr>
            <a:r>
              <a:t>Docker: All 5 services start flawlessly.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Adversarial Testing (Phase 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Standard 'happy path' testing is insufficient.</a:t>
            </a:r>
          </a:p>
          <a:p>
            <a:pPr>
              <a:spcAft>
                <a:spcPts val="1400"/>
              </a:spcAft>
              <a:defRPr sz="2400"/>
            </a:pPr>
            <a:r>
              <a:t>Tested specific attack vectors:</a:t>
            </a:r>
          </a:p>
          <a:p>
            <a:pPr>
              <a:spcAft>
                <a:spcPts val="1400"/>
              </a:spcAft>
              <a:defRPr sz="2400"/>
            </a:pPr>
            <a:r>
              <a:t>- Claiming already-claimed reviews (Concurrency)</a:t>
            </a:r>
          </a:p>
          <a:p>
            <a:pPr>
              <a:spcAft>
                <a:spcPts val="1400"/>
              </a:spcAft>
              <a:defRPr sz="2400"/>
            </a:pPr>
            <a:r>
              <a:t>- Correcting fields owned by others (Ownership)</a:t>
            </a:r>
          </a:p>
          <a:p>
            <a:pPr>
              <a:spcAft>
                <a:spcPts val="1400"/>
              </a:spcAft>
              <a:defRPr sz="2400"/>
            </a:pPr>
            <a:r>
              <a:t>- Approving invalid corrections (Re-validation bypass)</a:t>
            </a:r>
          </a:p>
          <a:p>
            <a:pPr>
              <a:spcAft>
                <a:spcPts val="1400"/>
              </a:spcAft>
              <a:defRPr sz="2400"/>
            </a:pPr>
            <a:r>
              <a:t>- Corrupt PDF ingestion</a:t>
            </a:r>
          </a:p>
          <a:p>
            <a:pPr>
              <a:spcAft>
                <a:spcPts val="1400"/>
              </a:spcAft>
              <a:defRPr sz="2400"/>
            </a:pPr>
            <a:r>
              <a:t>Ensures true enterprise-grade robustness.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5 Services: db, rabbitmq, backend, worker, frontend.</a:t>
            </a:r>
          </a:p>
          <a:p>
            <a:pPr>
              <a:spcAft>
                <a:spcPts val="1400"/>
              </a:spcAft>
              <a:defRPr sz="2400"/>
            </a:pPr>
            <a:r>
              <a:t>Isolated `clin_network`.</a:t>
            </a:r>
          </a:p>
          <a:p>
            <a:pPr>
              <a:spcAft>
                <a:spcPts val="1400"/>
              </a:spcAft>
              <a:defRPr sz="2400"/>
            </a:pPr>
            <a:r>
              <a:t>Health checks ensure DB and RabbitMQ are ready before Backend/Worker start.</a:t>
            </a:r>
          </a:p>
          <a:p>
            <a:pPr>
              <a:spcAft>
                <a:spcPts val="1400"/>
              </a:spcAft>
              <a:defRPr sz="2400"/>
            </a:pPr>
            <a:r>
              <a:t>Persistent volumes for PostgreSQL data and uploaded documents.</a:t>
            </a:r>
          </a:p>
          <a:p>
            <a:pPr>
              <a:spcAft>
                <a:spcPts val="1400"/>
              </a:spcAft>
              <a:defRPr sz="2400"/>
            </a:pPr>
            <a:r>
              <a:t>Environment variables manage configuration securely (no hardcoded keys).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1. Login as Admin/Reviewer</a:t>
            </a:r>
          </a:p>
          <a:p>
            <a:pPr>
              <a:spcAft>
                <a:spcPts val="1400"/>
              </a:spcAft>
              <a:defRPr sz="2400"/>
            </a:pPr>
            <a:r>
              <a:t>2. Upload synthetic clinical PDF</a:t>
            </a:r>
          </a:p>
          <a:p>
            <a:pPr>
              <a:spcAft>
                <a:spcPts val="1400"/>
              </a:spcAft>
              <a:defRPr sz="2400"/>
            </a:pPr>
            <a:r>
              <a:t>3. Observe real-time Processing status</a:t>
            </a:r>
          </a:p>
          <a:p>
            <a:pPr>
              <a:spcAft>
                <a:spcPts val="1400"/>
              </a:spcAft>
              <a:defRPr sz="2400"/>
            </a:pPr>
            <a:r>
              <a:t>4. Review flagged document in Workspace</a:t>
            </a:r>
          </a:p>
          <a:p>
            <a:pPr>
              <a:spcAft>
                <a:spcPts val="1400"/>
              </a:spcAft>
              <a:defRPr sz="2400"/>
            </a:pPr>
            <a:r>
              <a:t>5. Correct a low-confidence field (e.g. Hemoglobin)</a:t>
            </a:r>
          </a:p>
          <a:p>
            <a:pPr>
              <a:spcAft>
                <a:spcPts val="1400"/>
              </a:spcAft>
              <a:defRPr sz="2400"/>
            </a:pPr>
            <a:r>
              <a:t>6. Approve document</a:t>
            </a:r>
          </a:p>
          <a:p>
            <a:pPr>
              <a:spcAft>
                <a:spcPts val="1400"/>
              </a:spcAft>
              <a:defRPr sz="2400"/>
            </a:pPr>
            <a:r>
              <a:t>7. View Audit Logs &amp; System Health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Local Storage: Currently uses mounted volumes instead of S3/MinIO.</a:t>
            </a:r>
          </a:p>
          <a:p>
            <a:pPr>
              <a:spcAft>
                <a:spcPts val="1400"/>
              </a:spcAft>
              <a:defRPr sz="2400"/>
            </a:pPr>
            <a:r>
              <a:t>Schema: Limited to basic patient/lab schema, requires extension for complex EHR.</a:t>
            </a:r>
          </a:p>
          <a:p>
            <a:pPr>
              <a:spcAft>
                <a:spcPts val="1400"/>
              </a:spcAft>
              <a:defRPr sz="2400"/>
            </a:pPr>
            <a:r>
              <a:t>Costs: Gemini VLM calls can become expensive at scale.</a:t>
            </a:r>
          </a:p>
          <a:p>
            <a:pPr>
              <a:spcAft>
                <a:spcPts val="1400"/>
              </a:spcAft>
              <a:defRPr sz="2400"/>
            </a:pPr>
            <a:r>
              <a:t>Data: Evaluated on synthetic data, no formal HIPAA/GDPR certification yet.</a:t>
            </a:r>
          </a:p>
          <a:p>
            <a:pPr>
              <a:spcAft>
                <a:spcPts val="1400"/>
              </a:spcAft>
              <a:defRPr sz="2400"/>
            </a:pPr>
            <a:r>
              <a:t>Load Testing: Not yet battle-tested under massive concurrent load.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  <a:defRPr sz="2400"/>
            </a:pPr>
            <a:r>
              <a:t>Integrate S3 / MinIO for scalable object storage.</a:t>
            </a:r>
          </a:p>
          <a:p>
            <a:pPr>
              <a:spcAft>
                <a:spcPts val="1400"/>
              </a:spcAft>
              <a:defRPr sz="2400"/>
            </a:pPr>
            <a:r>
              <a:t>Support additional AI Providers (e.g. Anthropic, OpenAI).</a:t>
            </a:r>
          </a:p>
          <a:p>
            <a:pPr>
              <a:spcAft>
                <a:spcPts val="1400"/>
              </a:spcAft>
              <a:defRPr sz="2400"/>
            </a:pPr>
            <a:r>
              <a:t>Implement a formal AI model evaluation/calibration framework.</a:t>
            </a:r>
          </a:p>
          <a:p>
            <a:pPr>
              <a:spcAft>
                <a:spcPts val="1400"/>
              </a:spcAft>
              <a:defRPr sz="2400"/>
            </a:pPr>
            <a:r>
              <a:t>Expand clinical schemas (ICD-10, SNOMED CT extraction).</a:t>
            </a:r>
          </a:p>
          <a:p>
            <a:pPr>
              <a:spcAft>
                <a:spcPts val="1400"/>
              </a:spcAft>
              <a:defRPr sz="2400"/>
            </a:pPr>
            <a:r>
              <a:t>Migrate to Kubernetes for distributed auto-scaling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